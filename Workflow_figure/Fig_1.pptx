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3AB1E-41FC-3E05-35BB-61C32C49F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6D8C9-FDBB-C71D-7CE2-DF96220E5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855D-A7FA-4D1C-0F63-80351DFF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18D6D-9168-F936-B3E5-802E7D1D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B8B10-5988-2DC3-D963-98EFE8C1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5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A935-9D16-1880-5A47-138A4D24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32781-1C64-8ED4-5885-71E9C735E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6E32-94E5-E6BA-2D69-715B7703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FBC93-1C25-03C3-5EBF-AC295E40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50024-F34F-9FE8-3263-25F3F37A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4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51C3-108A-7EAF-AC97-80469C69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80A02-1C8A-3333-1B68-8AF125CF2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F3DD8-49B8-0FB6-1A3E-E9EA9DA1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F55CE-7C4B-48A0-B7DB-9947A235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7679-4E4C-AD60-7C71-BE7B0699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3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BB1B-F4B3-F2F7-B479-AA688C52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06FB-C5CE-5B2B-659B-38BC02EA0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0AB06-D242-6361-6EEF-DD26981CD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94F8C-50A9-A604-3D3B-0EB1FB1F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91B6D-AE21-C479-EC1F-B6018AD7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400A8-930E-B81B-B56C-2D3906F3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8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58CC-463F-61BB-9869-C9AAB243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47F-A025-41EE-170C-2C5E03110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E10E1-39F8-66AC-85E1-7DEC0D949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A40C91-E4F9-CB01-58EC-BAF439939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9E728-5884-E7D2-AC98-67903DAB6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DC5762-FA33-6FCB-55E1-02922CD1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51BB5-F57F-C6E0-A15A-25F91F619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81065-789C-E27A-6C5E-8AC50D1B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4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CF76-CEA7-5C47-A0A2-F80EB6BA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D94A9-1D19-6404-E385-1B55B51C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D5FFB-DFAA-8E7F-A2A7-2A856332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B541-B6CE-2BE7-8609-79C67AB1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7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14198-598E-6614-F4B6-3A1A7A4F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39A2F-F893-C0F2-73DD-054FB6D1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6017D-B11B-0B13-B841-68B8F9FD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8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1838-6FFA-52BE-2ECA-F459B4CEB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054E2-DCFD-F527-5E7E-5F663D5F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C6691-9442-0975-CC1B-863CDF235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5CEC0-82C2-9C13-8B0F-5CA8F3C4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8BB6-0F66-3A04-7EC7-5B73EC0E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E52A3-F8FA-6FB6-EE4D-55D0234A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2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DC5F-7861-9514-7547-F14F74A4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B6385-76F1-F12F-ADEC-9CF1429C9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E5E93-D046-B1F6-26FA-FC1310837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68723-E8B7-0B90-9067-AF03DB5F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ABF4E-3DC3-0F57-2ABC-2B2E9BC7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D2A9-853F-907F-DEBD-A1D80E0B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7374-8346-86FB-9C40-EF0A53D5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81CA2-4336-BA51-A694-BB74CE96F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5ED90-0A93-C4FF-0EFF-2ACFFF7F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F7777-D961-1E20-9AF6-FE076161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12B0C-545A-4982-45B4-810527AB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1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A2287-87E7-8244-31B8-E21605D81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F4C44-4994-626D-E35B-7A656999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D505B-0852-ED13-47C7-E1C933AD1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C738F-31BC-9CEC-2648-F168A07C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8B72-D3E4-C511-E38B-F8744DDB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1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94E405-F713-4826-99EE-9B1A8581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57544-D2E4-3479-3D57-BBCCFD851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06CD-5047-864E-BC80-E3143414F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0D915-2758-4BE5-AAFB-08E0E0DC727B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B3F68-706B-C9DC-F052-B1EEA29F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9D0A2-1F78-4D05-FC23-91D5C527F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DF7BF-23D0-42F3-A1FF-A7E2E4A3A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3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843EE6-B237-68C4-0E14-6758C81D03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395448"/>
              </p:ext>
            </p:extLst>
          </p:nvPr>
        </p:nvGraphicFramePr>
        <p:xfrm>
          <a:off x="2225963" y="1874212"/>
          <a:ext cx="3657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936518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487399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18153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768284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73010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29187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61669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18282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276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212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744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619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39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8A6A34-E767-991A-61FB-2BF35856A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527212"/>
              </p:ext>
            </p:extLst>
          </p:nvPr>
        </p:nvGraphicFramePr>
        <p:xfrm>
          <a:off x="1953490" y="2155921"/>
          <a:ext cx="3657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936518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487399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18153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768284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73010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29187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61669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18282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276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212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744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619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392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F03E301-01EA-2E94-1936-25CE4C683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69889"/>
              </p:ext>
            </p:extLst>
          </p:nvPr>
        </p:nvGraphicFramePr>
        <p:xfrm>
          <a:off x="1681017" y="2437630"/>
          <a:ext cx="3657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936518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4873998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181532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768284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73010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291876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61669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18282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6276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212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4744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619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5392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8FEA8F-A6BB-642C-8CED-15D69E42F395}"/>
                  </a:ext>
                </a:extLst>
              </p:cNvPr>
              <p:cNvSpPr txBox="1"/>
              <p:nvPr/>
            </p:nvSpPr>
            <p:spPr>
              <a:xfrm rot="18778954">
                <a:off x="5204796" y="4076171"/>
                <a:ext cx="172108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Taxon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∈{1,2,3}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8FEA8F-A6BB-642C-8CED-15D69E42F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78954">
                <a:off x="5204796" y="4076171"/>
                <a:ext cx="1721081" cy="830997"/>
              </a:xfrm>
              <a:prstGeom prst="rect">
                <a:avLst/>
              </a:prstGeom>
              <a:blipFill>
                <a:blip r:embed="rId2"/>
                <a:stretch>
                  <a:fillRect r="-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3EBF79-E265-0DED-1699-F8058EE60AB1}"/>
                  </a:ext>
                </a:extLst>
              </p:cNvPr>
              <p:cNvSpPr txBox="1"/>
              <p:nvPr/>
            </p:nvSpPr>
            <p:spPr>
              <a:xfrm>
                <a:off x="1681017" y="4858328"/>
                <a:ext cx="3657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Space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∈{1,2,…,8}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3EBF79-E265-0DED-1699-F8058EE60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017" y="4858328"/>
                <a:ext cx="3657600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6FD8AE-BE19-AF4B-50B6-8C0DD4DB6A12}"/>
                  </a:ext>
                </a:extLst>
              </p:cNvPr>
              <p:cNvSpPr txBox="1"/>
              <p:nvPr/>
            </p:nvSpPr>
            <p:spPr>
              <a:xfrm rot="16200000">
                <a:off x="45920" y="3327093"/>
                <a:ext cx="28040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ime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∈{1,2,…,5}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6FD8AE-BE19-AF4B-50B6-8C0DD4DB6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920" y="3327093"/>
                <a:ext cx="2804007" cy="461665"/>
              </a:xfrm>
              <a:prstGeom prst="rect">
                <a:avLst/>
              </a:prstGeom>
              <a:blipFill>
                <a:blip r:embed="rId4"/>
                <a:stretch>
                  <a:fillRect l="-10667" t="-870" r="-30667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1A1166F-533A-5282-1E60-A28A3CDC0D5A}"/>
              </a:ext>
            </a:extLst>
          </p:cNvPr>
          <p:cNvSpPr txBox="1"/>
          <p:nvPr/>
        </p:nvSpPr>
        <p:spPr>
          <a:xfrm>
            <a:off x="1217091" y="1405353"/>
            <a:ext cx="5292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Resource-consumer-predator biomass</a:t>
            </a:r>
          </a:p>
        </p:txBody>
      </p:sp>
    </p:spTree>
    <p:extLst>
      <p:ext uri="{BB962C8B-B14F-4D97-AF65-F5344CB8AC3E}">
        <p14:creationId xmlns:p14="http://schemas.microsoft.com/office/powerpoint/2010/main" val="197995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BBBA88-6B00-C44E-9158-84036F00EC54}"/>
                  </a:ext>
                </a:extLst>
              </p:cNvPr>
              <p:cNvSpPr txBox="1"/>
              <p:nvPr/>
            </p:nvSpPr>
            <p:spPr>
              <a:xfrm>
                <a:off x="0" y="0"/>
                <a:ext cx="44657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Step 1: Define dimensions for </a:t>
                </a:r>
              </a:p>
              <a:p>
                <a:r>
                  <a:rPr lang="en-US" b="1" dirty="0"/>
                  <a:t>	state-variable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BBBA88-6B00-C44E-9158-84036F00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4465782" cy="646331"/>
              </a:xfrm>
              <a:prstGeom prst="rect">
                <a:avLst/>
              </a:prstGeom>
              <a:blipFill>
                <a:blip r:embed="rId2"/>
                <a:stretch>
                  <a:fillRect l="-1091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oup of squares on a black background&#10;&#10;AI-generated content may be incorrect.">
            <a:extLst>
              <a:ext uri="{FF2B5EF4-FFF2-40B4-BE49-F238E27FC236}">
                <a16:creationId xmlns:a16="http://schemas.microsoft.com/office/drawing/2014/main" id="{2DD714B5-3261-A052-18DD-8689055A5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2" y="749709"/>
            <a:ext cx="4235161" cy="2973666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764494-EFE3-F4B2-830C-EECB58B52DFC}"/>
              </a:ext>
            </a:extLst>
          </p:cNvPr>
          <p:cNvSpPr txBox="1"/>
          <p:nvPr/>
        </p:nvSpPr>
        <p:spPr>
          <a:xfrm>
            <a:off x="178001" y="4115167"/>
            <a:ext cx="4562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2: Hypothesize mechanisms</a:t>
            </a:r>
          </a:p>
          <a:p>
            <a:endParaRPr lang="en-US" b="1" dirty="0"/>
          </a:p>
          <a:p>
            <a:pPr algn="ctr"/>
            <a:r>
              <a:rPr lang="en-US" dirty="0"/>
              <a:t>Dynamics</a:t>
            </a:r>
          </a:p>
          <a:p>
            <a:pPr algn="ctr"/>
            <a:r>
              <a:rPr lang="en-US" dirty="0"/>
              <a:t>≈</a:t>
            </a:r>
          </a:p>
          <a:p>
            <a:pPr algn="ctr"/>
            <a:r>
              <a:rPr lang="en-US" dirty="0"/>
              <a:t>Predator diffusion over time + </a:t>
            </a:r>
          </a:p>
          <a:p>
            <a:pPr algn="ctr"/>
            <a:r>
              <a:rPr lang="en-US" dirty="0"/>
              <a:t>Predator consumption of consumer +</a:t>
            </a:r>
          </a:p>
          <a:p>
            <a:pPr algn="ctr"/>
            <a:r>
              <a:rPr lang="en-US" dirty="0"/>
              <a:t>Predator density dependence +  </a:t>
            </a:r>
          </a:p>
          <a:p>
            <a:pPr algn="ctr"/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E96B94-9BBB-C7FF-137F-CAE67414FFDE}"/>
                  </a:ext>
                </a:extLst>
              </p:cNvPr>
              <p:cNvSpPr txBox="1"/>
              <p:nvPr/>
            </p:nvSpPr>
            <p:spPr>
              <a:xfrm>
                <a:off x="4709545" y="967443"/>
                <a:ext cx="11621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diffusion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E96B94-9BBB-C7FF-137F-CAE67414F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545" y="967443"/>
                <a:ext cx="1162113" cy="276999"/>
              </a:xfrm>
              <a:prstGeom prst="rect">
                <a:avLst/>
              </a:prstGeom>
              <a:blipFill>
                <a:blip r:embed="rId4"/>
                <a:stretch>
                  <a:fillRect l="-4737" r="-210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BD9C7E-E7BD-B109-6221-0BD858955AED}"/>
                  </a:ext>
                </a:extLst>
              </p:cNvPr>
              <p:cNvSpPr txBox="1"/>
              <p:nvPr/>
            </p:nvSpPr>
            <p:spPr>
              <a:xfrm>
                <a:off x="4822386" y="2535716"/>
                <a:ext cx="900888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BD9C7E-E7BD-B109-6221-0BD858955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386" y="2535716"/>
                <a:ext cx="900888" cy="302070"/>
              </a:xfrm>
              <a:prstGeom prst="rect">
                <a:avLst/>
              </a:prstGeom>
              <a:blipFill>
                <a:blip r:embed="rId5"/>
                <a:stretch>
                  <a:fillRect l="-6081" r="-2703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37024A-4A2B-3DE1-7C28-9EC67E9CEF5C}"/>
                  </a:ext>
                </a:extLst>
              </p:cNvPr>
              <p:cNvSpPr txBox="1"/>
              <p:nvPr/>
            </p:nvSpPr>
            <p:spPr>
              <a:xfrm>
                <a:off x="4884935" y="4327809"/>
                <a:ext cx="775789" cy="303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lag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37024A-4A2B-3DE1-7C28-9EC67E9CE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35" y="4327809"/>
                <a:ext cx="775789" cy="303160"/>
              </a:xfrm>
              <a:prstGeom prst="rect">
                <a:avLst/>
              </a:prstGeom>
              <a:blipFill>
                <a:blip r:embed="rId6"/>
                <a:stretch>
                  <a:fillRect l="-7031" r="-3125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5515155-53B9-1398-D1BC-CA6141BAAF03}"/>
              </a:ext>
            </a:extLst>
          </p:cNvPr>
          <p:cNvSpPr txBox="1"/>
          <p:nvPr/>
        </p:nvSpPr>
        <p:spPr>
          <a:xfrm>
            <a:off x="8241563" y="35899"/>
            <a:ext cx="3909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4: Assemble joint path matrix</a:t>
            </a:r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06AD33-CE50-A1B7-D4A7-91A402A9528E}"/>
                  </a:ext>
                </a:extLst>
              </p:cNvPr>
              <p:cNvSpPr txBox="1"/>
              <p:nvPr/>
            </p:nvSpPr>
            <p:spPr>
              <a:xfrm>
                <a:off x="7601527" y="636880"/>
                <a:ext cx="4656589" cy="1307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joint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diffusion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lag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space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lag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space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⊗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lag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06AD33-CE50-A1B7-D4A7-91A402A95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527" y="636880"/>
                <a:ext cx="4656589" cy="13070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36E086-FD40-C70A-B3E2-06D7AF50C0DC}"/>
                  </a:ext>
                </a:extLst>
              </p:cNvPr>
              <p:cNvSpPr txBox="1"/>
              <p:nvPr/>
            </p:nvSpPr>
            <p:spPr>
              <a:xfrm>
                <a:off x="8241563" y="2916059"/>
                <a:ext cx="3909456" cy="2640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Step 5:  Evaluate probability of </a:t>
                </a:r>
              </a:p>
              <a:p>
                <a:r>
                  <a:rPr lang="en-US" b="1" dirty="0"/>
                  <a:t>	state-variable as Gaussian 	Markov random field</a:t>
                </a:r>
              </a:p>
              <a:p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vec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GMRF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b="0" dirty="0"/>
                  <a:t>	Using joint precision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joint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𝐈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joint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36E086-FD40-C70A-B3E2-06D7AF50C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563" y="2916059"/>
                <a:ext cx="3909456" cy="2640018"/>
              </a:xfrm>
              <a:prstGeom prst="rect">
                <a:avLst/>
              </a:prstGeom>
              <a:blipFill>
                <a:blip r:embed="rId8"/>
                <a:stretch>
                  <a:fillRect l="-1404" t="-924" r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 descr="A black and white squares&#10;&#10;AI-generated content may be incorrect.">
            <a:extLst>
              <a:ext uri="{FF2B5EF4-FFF2-40B4-BE49-F238E27FC236}">
                <a16:creationId xmlns:a16="http://schemas.microsoft.com/office/drawing/2014/main" id="{A03D6326-DD33-A02C-6CCC-1F6EDCBB49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658" y="610324"/>
            <a:ext cx="1600200" cy="1600200"/>
          </a:xfrm>
          <a:prstGeom prst="rect">
            <a:avLst/>
          </a:prstGeom>
        </p:spPr>
      </p:pic>
      <p:pic>
        <p:nvPicPr>
          <p:cNvPr id="31" name="Picture 30" descr="A black and white graph&#10;&#10;AI-generated content may be incorrect.">
            <a:extLst>
              <a:ext uri="{FF2B5EF4-FFF2-40B4-BE49-F238E27FC236}">
                <a16:creationId xmlns:a16="http://schemas.microsoft.com/office/drawing/2014/main" id="{38E726A6-2BBF-4E16-46D4-889C39B059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85" y="3679289"/>
            <a:ext cx="1600200" cy="1600200"/>
          </a:xfrm>
          <a:prstGeom prst="rect">
            <a:avLst/>
          </a:prstGeom>
        </p:spPr>
      </p:pic>
      <p:pic>
        <p:nvPicPr>
          <p:cNvPr id="33" name="Picture 32" descr="A black and white graph&#10;&#10;AI-generated content may be incorrect.">
            <a:extLst>
              <a:ext uri="{FF2B5EF4-FFF2-40B4-BE49-F238E27FC236}">
                <a16:creationId xmlns:a16="http://schemas.microsoft.com/office/drawing/2014/main" id="{67728B0A-FA45-13F1-BCD8-51B0123FE9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85" y="5221794"/>
            <a:ext cx="1600200" cy="1600200"/>
          </a:xfrm>
          <a:prstGeom prst="rect">
            <a:avLst/>
          </a:prstGeom>
        </p:spPr>
      </p:pic>
      <p:pic>
        <p:nvPicPr>
          <p:cNvPr id="35" name="Picture 34" descr="A black square with a black rectangle&#10;&#10;AI-generated content may be incorrect.">
            <a:extLst>
              <a:ext uri="{FF2B5EF4-FFF2-40B4-BE49-F238E27FC236}">
                <a16:creationId xmlns:a16="http://schemas.microsoft.com/office/drawing/2014/main" id="{A1A4F678-5031-1783-0060-AF69A2A3F6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658" y="2115959"/>
            <a:ext cx="1600200" cy="1600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05BC17-B153-4AE3-C4F6-50A566CA42C6}"/>
                  </a:ext>
                </a:extLst>
              </p:cNvPr>
              <p:cNvSpPr txBox="1"/>
              <p:nvPr/>
            </p:nvSpPr>
            <p:spPr>
              <a:xfrm>
                <a:off x="4947485" y="5718734"/>
                <a:ext cx="775789" cy="303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lag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05BC17-B153-4AE3-C4F6-50A566CA4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485" y="5718734"/>
                <a:ext cx="775789" cy="303160"/>
              </a:xfrm>
              <a:prstGeom prst="rect">
                <a:avLst/>
              </a:prstGeom>
              <a:blipFill>
                <a:blip r:embed="rId13"/>
                <a:stretch>
                  <a:fillRect l="-7874" r="-315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19826FA-6D0F-C11D-0678-FA2E10144AF5}"/>
              </a:ext>
            </a:extLst>
          </p:cNvPr>
          <p:cNvSpPr txBox="1"/>
          <p:nvPr/>
        </p:nvSpPr>
        <p:spPr>
          <a:xfrm>
            <a:off x="4465782" y="0"/>
            <a:ext cx="3586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3: Construct elementary </a:t>
            </a:r>
          </a:p>
          <a:p>
            <a:r>
              <a:rPr lang="en-US" b="1" dirty="0"/>
              <a:t>	paths matrices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013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113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>NOAA Fisheries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James.Thorson</dc:creator>
  <cp:lastModifiedBy>James.Thorson</cp:lastModifiedBy>
  <cp:revision>26</cp:revision>
  <dcterms:created xsi:type="dcterms:W3CDTF">2025-12-03T21:45:17Z</dcterms:created>
  <dcterms:modified xsi:type="dcterms:W3CDTF">2026-02-06T20:29:23Z</dcterms:modified>
</cp:coreProperties>
</file>